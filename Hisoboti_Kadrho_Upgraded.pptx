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669280" cy="5669280"/>
          </a:xfrm>
          <a:prstGeom prst="ellipse">
            <a:avLst/>
          </a:prstGeom>
          <a:solidFill>
            <a:srgbClr val="171B38"/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-1188720"/>
            <a:ext cx="3291840" cy="3291840"/>
          </a:xfrm>
          <a:prstGeom prst="ellipse">
            <a:avLst/>
          </a:prstGeom>
          <a:solidFill>
            <a:srgbClr val="D4A44C"/>
          </a:solidFill>
          <a:ln/>
        </p:spPr>
      </p:sp>
      <p:sp>
        <p:nvSpPr>
          <p:cNvPr id="4" name="Shape 2"/>
          <p:cNvSpPr/>
          <p:nvPr/>
        </p:nvSpPr>
        <p:spPr>
          <a:xfrm>
            <a:off x="11155680" y="-182880"/>
            <a:ext cx="1280160" cy="1280160"/>
          </a:xfrm>
          <a:prstGeom prst="ellipse">
            <a:avLst/>
          </a:prstGeom>
          <a:ln w="19050">
            <a:solidFill>
              <a:srgbClr val="3C42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188720" y="3794760"/>
            <a:ext cx="4937760" cy="4937760"/>
          </a:xfrm>
          <a:prstGeom prst="ellipse">
            <a:avLst/>
          </a:prstGeom>
          <a:ln w="15875">
            <a:solidFill>
              <a:srgbClr val="2B31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640080"/>
            <a:ext cx="502920" cy="502920"/>
          </a:xfrm>
          <a:prstGeom prst="ellipse">
            <a:avLst/>
          </a:prstGeom>
          <a:solidFill>
            <a:srgbClr val="D4A44C"/>
          </a:solidFill>
          <a:ln/>
        </p:spPr>
      </p:sp>
      <p:sp>
        <p:nvSpPr>
          <p:cNvPr id="7" name="Shape 5"/>
          <p:cNvSpPr/>
          <p:nvPr/>
        </p:nvSpPr>
        <p:spPr>
          <a:xfrm>
            <a:off x="776326" y="891540"/>
            <a:ext cx="321869" cy="0"/>
          </a:xfrm>
          <a:prstGeom prst="line">
            <a:avLst/>
          </a:prstGeom>
          <a:noFill/>
          <a:ln w="19050">
            <a:solidFill>
              <a:srgbClr val="1F25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7260" y="730606"/>
            <a:ext cx="0" cy="321869"/>
          </a:xfrm>
          <a:prstGeom prst="line">
            <a:avLst/>
          </a:prstGeom>
          <a:noFill/>
          <a:ln w="19050">
            <a:solidFill>
              <a:srgbClr val="1F25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2419" y="803026"/>
            <a:ext cx="289682" cy="177028"/>
          </a:xfrm>
          <a:prstGeom prst="ellipse">
            <a:avLst/>
          </a:prstGeom>
          <a:ln w="15875">
            <a:solidFill>
              <a:srgbClr val="1F25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16736" y="612648"/>
            <a:ext cx="329184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СПИТАМЕН БОНК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16736" y="90159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D4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ШОИСТА ЗИНДАГӢ НАМО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85800" y="233172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ҲИСОБОТИ КАДРҲО</a:t>
            </a:r>
            <a:endParaRPr lang="en-US" sz="5000" dirty="0"/>
          </a:p>
        </p:txBody>
      </p:sp>
      <p:sp>
        <p:nvSpPr>
          <p:cNvPr id="13" name="Text 11"/>
          <p:cNvSpPr/>
          <p:nvPr/>
        </p:nvSpPr>
        <p:spPr>
          <a:xfrm>
            <a:off x="713232" y="352044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C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Лоиҳаҳои стратегӣ оид ба ҷалб, рушд ва нигоҳдории кадрҳо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13232" y="434340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2B3160"/>
          </a:solidFill>
          <a:ln w="12700">
            <a:solidFill>
              <a:srgbClr val="3C42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4343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D4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НИМСОЛАИ ЯКУМИ 2026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641908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Департаменти кадрҳо</a:t>
            </a:r>
            <a:pPr indent="0" marL="0">
              <a:buNone/>
            </a:pPr>
            <a:r>
              <a:rPr lang="en-US" sz="9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950" dirty="0">
                <a:solidFill>
                  <a:srgbClr val="90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ҶСП «Спитамен Бонк»</a:t>
            </a:r>
            <a:pPr indent="0" marL="0">
              <a:buNone/>
            </a:pPr>
            <a:r>
              <a:rPr lang="en-US" sz="9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950" dirty="0">
                <a:solidFill>
                  <a:srgbClr val="90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Нимсолаи якуми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84048" cy="384048"/>
          </a:xfrm>
          <a:prstGeom prst="ellipse">
            <a:avLst/>
          </a:prstGeom>
          <a:solidFill>
            <a:srgbClr val="D4A44C"/>
          </a:solidFill>
          <a:ln/>
        </p:spPr>
      </p:sp>
      <p:sp>
        <p:nvSpPr>
          <p:cNvPr id="3" name="Shape 1"/>
          <p:cNvSpPr/>
          <p:nvPr/>
        </p:nvSpPr>
        <p:spPr>
          <a:xfrm>
            <a:off x="572049" y="603504"/>
            <a:ext cx="245791" cy="0"/>
          </a:xfrm>
          <a:prstGeom prst="line">
            <a:avLst/>
          </a:prstGeom>
          <a:noFill/>
          <a:ln w="19050">
            <a:solidFill>
              <a:srgbClr val="1F25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" y="480609"/>
            <a:ext cx="0" cy="245791"/>
          </a:xfrm>
          <a:prstGeom prst="line">
            <a:avLst/>
          </a:prstGeom>
          <a:noFill/>
          <a:ln w="19050">
            <a:solidFill>
              <a:srgbClr val="1F25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4338" y="535912"/>
            <a:ext cx="221212" cy="135185"/>
          </a:xfrm>
          <a:prstGeom prst="ellipse">
            <a:avLst/>
          </a:prstGeom>
          <a:ln w="15875">
            <a:solidFill>
              <a:srgbClr val="1F25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984" y="384048"/>
            <a:ext cx="3291840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СПИТАМЕН БОНК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14984" y="611185"/>
            <a:ext cx="32918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D4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ШОИСТА ЗИНДАГӢ НАМО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Мундариҷа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21208" y="162763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 лоиҳаи асосии соли ҷорӣ дар самти идоракунии кадрҳо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2331720"/>
            <a:ext cx="736092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2331720"/>
            <a:ext cx="7360920" cy="1207008"/>
          </a:xfrm>
          <a:prstGeom prst="roundRect">
            <a:avLst>
              <a:gd name="adj" fmla="val 9091"/>
            </a:avLst>
          </a:prstGeom>
          <a:ln w="12700">
            <a:solidFill>
              <a:srgbClr val="E4E6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5256" y="2606040"/>
            <a:ext cx="658368" cy="658368"/>
          </a:xfrm>
          <a:prstGeom prst="ellipse">
            <a:avLst/>
          </a:prstGeom>
          <a:solidFill>
            <a:srgbClr val="D4A44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05256" y="26060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91640" y="245973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8F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91640" y="271576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Оптимизатсияи раванди истихдом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691640" y="31089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Кӯтоҳ кардани мӯҳлати пуркунии вазифаҳои холӣ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739896"/>
            <a:ext cx="7360920" cy="1207008"/>
          </a:xfrm>
          <a:prstGeom prst="roundRect">
            <a:avLst>
              <a:gd name="adj" fmla="val 9091"/>
            </a:avLst>
          </a:prstGeom>
          <a:solidFill>
            <a:srgbClr val="EAF1FB"/>
          </a:solidFill>
          <a:ln/>
          <a:effectLst>
            <a:outerShdw sx="100000" sy="100000" kx="0" ky="0" algn="bl" rotWithShape="0" blurRad="177800" dist="50800" dir="5400000">
              <a:srgbClr val="1A1A2E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05256" y="4014216"/>
            <a:ext cx="658368" cy="658368"/>
          </a:xfrm>
          <a:prstGeom prst="ellipse">
            <a:avLst/>
          </a:prstGeom>
          <a:solidFill>
            <a:srgbClr val="1F2547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05256" y="401421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91640" y="386791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691640" y="4123944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Ҷалби мутахассиси IT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691640" y="451713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Барномаи реферали ва ҳавасмандгардонии иловагӣ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5148072"/>
            <a:ext cx="736092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502920" y="5148072"/>
            <a:ext cx="7360920" cy="1207008"/>
          </a:xfrm>
          <a:prstGeom prst="roundRect">
            <a:avLst>
              <a:gd name="adj" fmla="val 9091"/>
            </a:avLst>
          </a:prstGeom>
          <a:ln w="12700">
            <a:solidFill>
              <a:srgbClr val="E4E6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5256" y="5422392"/>
            <a:ext cx="658368" cy="658368"/>
          </a:xfrm>
          <a:prstGeom prst="ellipse">
            <a:avLst/>
          </a:prstGeom>
          <a:solidFill>
            <a:srgbClr val="D4A44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05256" y="54223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91640" y="52760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8F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691640" y="55321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Омӯзиш ва рушди кормандон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691640" y="592531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Барномаи мураббигӣ ва баланд бардоштани ихтисос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321040" y="1051560"/>
            <a:ext cx="3364992" cy="5212080"/>
          </a:xfrm>
          <a:prstGeom prst="roundRect">
            <a:avLst>
              <a:gd name="adj" fmla="val 3804"/>
            </a:avLst>
          </a:prstGeom>
          <a:solidFill>
            <a:srgbClr val="1F2547"/>
          </a:solidFill>
          <a:ln/>
          <a:effectLst>
            <a:outerShdw sx="100000" sy="100000" kx="0" ky="0" algn="bl" rotWithShape="0" blurRad="177800" dist="50800" dir="5400000">
              <a:srgbClr val="1A1A2E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814816" y="4206240"/>
            <a:ext cx="2377440" cy="2377440"/>
          </a:xfrm>
          <a:prstGeom prst="ellipse">
            <a:avLst/>
          </a:prstGeom>
          <a:ln w="15875">
            <a:solidFill>
              <a:srgbClr val="32386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94776" y="3886200"/>
            <a:ext cx="3017520" cy="3017520"/>
          </a:xfrm>
          <a:prstGeom prst="ellipse">
            <a:avLst/>
          </a:prstGeom>
          <a:ln w="12700">
            <a:solidFill>
              <a:srgbClr val="2A30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69196" y="1897380"/>
            <a:ext cx="868680" cy="868680"/>
          </a:xfrm>
          <a:prstGeom prst="ellipse">
            <a:avLst/>
          </a:prstGeom>
          <a:solidFill>
            <a:srgbClr val="D4A44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569196" y="18973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8321040" y="2971800"/>
            <a:ext cx="3364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000" dirty="0"/>
          </a:p>
        </p:txBody>
      </p:sp>
      <p:sp>
        <p:nvSpPr>
          <p:cNvPr id="36" name="Text 34"/>
          <p:cNvSpPr/>
          <p:nvPr/>
        </p:nvSpPr>
        <p:spPr>
          <a:xfrm>
            <a:off x="8321040" y="3794760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D4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СТРАТЕГИЯИ КАДРӢ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686800" y="425196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лоиҳаи фаъол дар соли 2026, ки самаранокии кори кадриро баланд мебардоранд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" y="641908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Департаменти кадрҳо</a:t>
            </a:r>
            <a:pPr indent="0" marL="0">
              <a:buNone/>
            </a:pPr>
            <a:r>
              <a:rPr lang="en-US" sz="950" dirty="0">
                <a:solidFill>
                  <a:srgbClr val="E4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950" dirty="0">
                <a:solidFill>
                  <a:srgbClr val="8A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ҶСП «Спитамен Бонк»</a:t>
            </a:r>
            <a:pPr indent="0" marL="0">
              <a:buNone/>
            </a:pPr>
            <a:r>
              <a:rPr lang="en-US" sz="950" dirty="0">
                <a:solidFill>
                  <a:srgbClr val="E4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950" dirty="0">
                <a:solidFill>
                  <a:srgbClr val="8A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Нимсолаи якуми 2026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365760" cy="365760"/>
          </a:xfrm>
          <a:prstGeom prst="ellipse">
            <a:avLst/>
          </a:prstGeom>
          <a:solidFill>
            <a:srgbClr val="D4A44C"/>
          </a:solidFill>
          <a:ln/>
        </p:spPr>
      </p:sp>
      <p:sp>
        <p:nvSpPr>
          <p:cNvPr id="3" name="Shape 1"/>
          <p:cNvSpPr/>
          <p:nvPr/>
        </p:nvSpPr>
        <p:spPr>
          <a:xfrm>
            <a:off x="568757" y="548640"/>
            <a:ext cx="234086" cy="0"/>
          </a:xfrm>
          <a:prstGeom prst="line">
            <a:avLst/>
          </a:prstGeom>
          <a:noFill/>
          <a:ln w="19050">
            <a:solidFill>
              <a:srgbClr val="1F25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431597"/>
            <a:ext cx="0" cy="234086"/>
          </a:xfrm>
          <a:prstGeom prst="line">
            <a:avLst/>
          </a:prstGeom>
          <a:noFill/>
          <a:ln w="19050">
            <a:solidFill>
              <a:srgbClr val="1F25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0461" y="484266"/>
            <a:ext cx="210678" cy="128748"/>
          </a:xfrm>
          <a:prstGeom prst="ellipse">
            <a:avLst/>
          </a:prstGeom>
          <a:ln w="15875">
            <a:solidFill>
              <a:srgbClr val="1F25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696" y="338328"/>
            <a:ext cx="329184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СПИТАМЕН БОНК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96696" y="555955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D4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ШОИСТА ЗИНДАГӢ НАМО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480560" y="30175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1F2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Лоиҳа 2 — Ҷалби мутахассиси IT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480560" y="786384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4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Барномаи реферали (Referral Program)   •   Тартиби ҳавасмандгардонии иловагӣ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1417320"/>
            <a:ext cx="5440680" cy="2331720"/>
          </a:xfrm>
          <a:prstGeom prst="roundRect">
            <a:avLst>
              <a:gd name="adj" fmla="val 4706"/>
            </a:avLst>
          </a:prstGeom>
          <a:solidFill>
            <a:srgbClr val="FCEEEC"/>
          </a:solidFill>
          <a:ln/>
          <a:effectLst>
            <a:outerShdw sx="100000" sy="100000" kx="0" ky="0" algn="bl" rotWithShape="0" blurRad="177800" dist="50800" dir="5400000">
              <a:srgbClr val="1A1A2E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50976" y="1682496"/>
            <a:ext cx="566928" cy="566928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50976" y="1682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00200" y="16184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00200" y="1874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МАСЪАЛАИ МУАЙЯНШУДА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77240" y="2551176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987552" y="241401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Рақобати баланд дар бозори меҳнат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" y="2971800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987552" y="2834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Норасоии мутахассисони IT (барномасозон)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7240" y="3392424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987552" y="325526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Мушкилоти ҷалб ва нигоҳдории кадрҳо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1417320"/>
            <a:ext cx="5440680" cy="2331720"/>
          </a:xfrm>
          <a:prstGeom prst="roundRect">
            <a:avLst>
              <a:gd name="adj" fmla="val 4706"/>
            </a:avLst>
          </a:prstGeom>
          <a:solidFill>
            <a:srgbClr val="EAF1FB"/>
          </a:solidFill>
          <a:ln/>
          <a:effectLst>
            <a:outerShdw sx="100000" sy="100000" kx="0" ky="0" algn="bl" rotWithShape="0" blurRad="177800" dist="50800" dir="5400000">
              <a:srgbClr val="1A1A2E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65976" y="1682496"/>
            <a:ext cx="566928" cy="566928"/>
          </a:xfrm>
          <a:prstGeom prst="ellipse">
            <a:avLst/>
          </a:prstGeom>
          <a:solidFill>
            <a:srgbClr val="1F2547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665976" y="1682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315200" y="16184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0" y="1874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50" kern="0" dirty="0">
                <a:solidFill>
                  <a:srgbClr val="1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ҲАЛЛИ ПЕШНИҲОДШУДА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537960" y="242316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1F2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«Тартиби ҷалб, ҳавасмандгардонии иловагӣ ва нигоҳдории мутахассисони IT»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537960" y="320040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Ҳамчун механизми Referral Program барои ҷалби мутахассисони соҳибтаҷрибаи IT амалӣ гардид.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" y="4023360"/>
            <a:ext cx="11185855" cy="1920240"/>
          </a:xfrm>
          <a:prstGeom prst="roundRect">
            <a:avLst>
              <a:gd name="adj" fmla="val 6667"/>
            </a:avLst>
          </a:prstGeom>
          <a:solidFill>
            <a:srgbClr val="1F2547"/>
          </a:solidFill>
          <a:ln/>
          <a:effectLst>
            <a:outerShdw sx="100000" sy="100000" kx="0" ky="0" algn="bl" rotWithShape="0" blurRad="177800" dist="50800" dir="5400000">
              <a:srgbClr val="1A1A2E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738360" y="4206240"/>
            <a:ext cx="1554480" cy="1554480"/>
          </a:xfrm>
          <a:prstGeom prst="ellipse">
            <a:avLst/>
          </a:prstGeom>
          <a:ln w="15875">
            <a:solidFill>
              <a:srgbClr val="32386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464040" y="3931920"/>
            <a:ext cx="2103120" cy="2103120"/>
          </a:xfrm>
          <a:prstGeom prst="ellipse">
            <a:avLst/>
          </a:prstGeom>
          <a:ln w="12700">
            <a:solidFill>
              <a:srgbClr val="2A30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5256" y="4654296"/>
            <a:ext cx="658368" cy="658368"/>
          </a:xfrm>
          <a:prstGeom prst="ellipse">
            <a:avLst/>
          </a:prstGeom>
          <a:solidFill>
            <a:srgbClr val="D4A44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05256" y="46542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691640" y="42793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691640" y="4526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D4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НАТИҶА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481328" y="4709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D4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7400" dirty="0"/>
          </a:p>
        </p:txBody>
      </p:sp>
      <p:sp>
        <p:nvSpPr>
          <p:cNvPr id="36" name="Text 34"/>
          <p:cNvSpPr/>
          <p:nvPr/>
        </p:nvSpPr>
        <p:spPr>
          <a:xfrm>
            <a:off x="3429000" y="50292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нафар мутахассиси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соҳибтаҷрибаи IT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263640" y="4343400"/>
            <a:ext cx="0" cy="1280160"/>
          </a:xfrm>
          <a:prstGeom prst="line">
            <a:avLst/>
          </a:prstGeom>
          <a:noFill/>
          <a:ln w="12700">
            <a:solidFill>
              <a:srgbClr val="3A407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9400" y="438912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7D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Ҳалли яке аз масъалаҳои муҳими кадри Бонк — ҷалби мутахассисони баландихтисоси соҳаи технологияҳои иттилоотӣ.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02920" y="641908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Департаменти кадрҳо</a:t>
            </a:r>
            <a:pPr indent="0" marL="0">
              <a:buNone/>
            </a:pPr>
            <a:r>
              <a:rPr lang="en-US" sz="950" dirty="0">
                <a:solidFill>
                  <a:srgbClr val="E4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950" dirty="0">
                <a:solidFill>
                  <a:srgbClr val="8A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ҶСП «Спитамен Бонк»</a:t>
            </a:r>
            <a:pPr indent="0" marL="0">
              <a:buNone/>
            </a:pPr>
            <a:r>
              <a:rPr lang="en-US" sz="950" dirty="0">
                <a:solidFill>
                  <a:srgbClr val="E4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950" dirty="0">
                <a:solidFill>
                  <a:srgbClr val="8A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Нимсолаи якуми 2026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365760" cy="365760"/>
          </a:xfrm>
          <a:prstGeom prst="ellipse">
            <a:avLst/>
          </a:prstGeom>
          <a:solidFill>
            <a:srgbClr val="D4A44C"/>
          </a:solidFill>
          <a:ln/>
        </p:spPr>
      </p:sp>
      <p:sp>
        <p:nvSpPr>
          <p:cNvPr id="3" name="Shape 1"/>
          <p:cNvSpPr/>
          <p:nvPr/>
        </p:nvSpPr>
        <p:spPr>
          <a:xfrm>
            <a:off x="568757" y="548640"/>
            <a:ext cx="234086" cy="0"/>
          </a:xfrm>
          <a:prstGeom prst="line">
            <a:avLst/>
          </a:prstGeom>
          <a:noFill/>
          <a:ln w="19050">
            <a:solidFill>
              <a:srgbClr val="1F25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431597"/>
            <a:ext cx="0" cy="234086"/>
          </a:xfrm>
          <a:prstGeom prst="line">
            <a:avLst/>
          </a:prstGeom>
          <a:noFill/>
          <a:ln w="19050">
            <a:solidFill>
              <a:srgbClr val="1F25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0461" y="484266"/>
            <a:ext cx="210678" cy="128748"/>
          </a:xfrm>
          <a:prstGeom prst="ellipse">
            <a:avLst/>
          </a:prstGeom>
          <a:ln w="15875">
            <a:solidFill>
              <a:srgbClr val="1F25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696" y="338328"/>
            <a:ext cx="329184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СПИТАМЕН БОНК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96696" y="555955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D4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ШОИСТА ЗИНДАГӢ НАМО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931920" y="3017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1F2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Лоиҳа 3 — Омӯзиш ва рушди кормандон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3931920" y="78638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4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Барномаи мураббигӣ (Mentorship)   •   Харитаи инфиродии рушд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234440" y="1947672"/>
            <a:ext cx="0" cy="2962656"/>
          </a:xfrm>
          <a:prstGeom prst="line">
            <a:avLst/>
          </a:prstGeom>
          <a:noFill/>
          <a:ln w="25400">
            <a:solidFill>
              <a:srgbClr val="E4E6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78408" y="1691640"/>
            <a:ext cx="512064" cy="512064"/>
          </a:xfrm>
          <a:prstGeom prst="ellipse">
            <a:avLst/>
          </a:prstGeom>
          <a:solidFill>
            <a:srgbClr val="1F2547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78408" y="1691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91640" y="16733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Арзёбии малака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691640" y="2020824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Муайян намудани сатҳи ҳозираи дониш ва эҳтиёҷоти рушд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78408" y="3172968"/>
            <a:ext cx="512064" cy="512064"/>
          </a:xfrm>
          <a:prstGeom prst="ellipse">
            <a:avLst/>
          </a:prstGeom>
          <a:solidFill>
            <a:srgbClr val="D4A44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78408" y="3172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91640" y="31546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Барномаи мураббигӣ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691640" y="350215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Ҷуфт кардани корманд бо мураббии соҳавӣ барои 3 моҳ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78408" y="4654296"/>
            <a:ext cx="512064" cy="512064"/>
          </a:xfrm>
          <a:prstGeom prst="ellipse">
            <a:avLst/>
          </a:prstGeom>
          <a:solidFill>
            <a:srgbClr val="1F2547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78408" y="4654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91640" y="46360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Сертификатсия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691640" y="49834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Санҷиши натиҷа ва додани сертификати дохилибонкӣ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03720" y="1691640"/>
            <a:ext cx="4800600" cy="1874520"/>
          </a:xfrm>
          <a:prstGeom prst="roundRect">
            <a:avLst>
              <a:gd name="adj" fmla="val 6829"/>
            </a:avLst>
          </a:prstGeom>
          <a:solidFill>
            <a:srgbClr val="1F2547"/>
          </a:solidFill>
          <a:ln/>
          <a:effectLst>
            <a:outerShdw sx="100000" sy="100000" kx="0" ky="0" algn="bl" rotWithShape="0" blurRad="177800" dist="50800" dir="5400000">
              <a:srgbClr val="1A1A2E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332720" y="1051560"/>
            <a:ext cx="1463040" cy="1463040"/>
          </a:xfrm>
          <a:prstGeom prst="ellipse">
            <a:avLst/>
          </a:prstGeom>
          <a:ln w="13970">
            <a:solidFill>
              <a:srgbClr val="2A30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51776" y="2203704"/>
            <a:ext cx="566928" cy="566928"/>
          </a:xfrm>
          <a:prstGeom prst="ellipse">
            <a:avLst/>
          </a:prstGeom>
          <a:solidFill>
            <a:srgbClr val="D4A44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51776" y="22037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138160" y="18745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D4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87%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8138160" y="26060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кормандон барномаро дар соли равон ба итмом расониданд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903720" y="3794760"/>
            <a:ext cx="4800600" cy="1965960"/>
          </a:xfrm>
          <a:prstGeom prst="roundRect">
            <a:avLst>
              <a:gd name="adj" fmla="val 5581"/>
            </a:avLst>
          </a:prstGeom>
          <a:solidFill>
            <a:srgbClr val="EAF1FB"/>
          </a:solidFill>
          <a:ln/>
          <a:effectLst>
            <a:outerShdw sx="100000" sy="100000" kx="0" ky="0" algn="bl" rotWithShape="0" blurRad="177800" dist="50800" dir="5400000">
              <a:srgbClr val="1A1A2E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51776" y="4306824"/>
            <a:ext cx="566928" cy="566928"/>
          </a:xfrm>
          <a:prstGeom prst="ellipse">
            <a:avLst/>
          </a:prstGeom>
          <a:solidFill>
            <a:srgbClr val="1F2547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351776" y="43068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092440" y="4041648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1F2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«Рушди дохилӣ — сармоягузории аз ҳама боэътимод дар оянда»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360920" y="489204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мураббии дохилӣ ва 34 корманди фарогирифташуда дар марҳилаи аввали лоиҳа.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02920" y="641908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Департаменти кадрҳо</a:t>
            </a:r>
            <a:pPr indent="0" marL="0">
              <a:buNone/>
            </a:pPr>
            <a:r>
              <a:rPr lang="en-US" sz="950" dirty="0">
                <a:solidFill>
                  <a:srgbClr val="E4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950" dirty="0">
                <a:solidFill>
                  <a:srgbClr val="8A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ҶСП «Спитамен Бонк»</a:t>
            </a:r>
            <a:pPr indent="0" marL="0">
              <a:buNone/>
            </a:pPr>
            <a:r>
              <a:rPr lang="en-US" sz="950" dirty="0">
                <a:solidFill>
                  <a:srgbClr val="E4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950" dirty="0">
                <a:solidFill>
                  <a:srgbClr val="8A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Нимсолаи якуми 2026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194560"/>
            <a:ext cx="5486400" cy="5486400"/>
          </a:xfrm>
          <a:prstGeom prst="ellipse">
            <a:avLst/>
          </a:prstGeom>
          <a:solidFill>
            <a:srgbClr val="171B38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840480"/>
            <a:ext cx="4572000" cy="4572000"/>
          </a:xfrm>
          <a:prstGeom prst="ellipse">
            <a:avLst/>
          </a:prstGeom>
          <a:solidFill>
            <a:srgbClr val="D4A44C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548640"/>
            <a:ext cx="457200" cy="457200"/>
          </a:xfrm>
          <a:prstGeom prst="ellipse">
            <a:avLst/>
          </a:prstGeom>
          <a:solidFill>
            <a:srgbClr val="D4A44C"/>
          </a:solidFill>
          <a:ln/>
        </p:spPr>
      </p:sp>
      <p:sp>
        <p:nvSpPr>
          <p:cNvPr id="5" name="Shape 3"/>
          <p:cNvSpPr/>
          <p:nvPr/>
        </p:nvSpPr>
        <p:spPr>
          <a:xfrm>
            <a:off x="768096" y="777240"/>
            <a:ext cx="292608" cy="0"/>
          </a:xfrm>
          <a:prstGeom prst="line">
            <a:avLst/>
          </a:prstGeom>
          <a:noFill/>
          <a:ln w="19050">
            <a:solidFill>
              <a:srgbClr val="1F25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630936"/>
            <a:ext cx="0" cy="292608"/>
          </a:xfrm>
          <a:prstGeom prst="line">
            <a:avLst/>
          </a:prstGeom>
          <a:noFill/>
          <a:ln w="19050">
            <a:solidFill>
              <a:srgbClr val="1F25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2726" y="696773"/>
            <a:ext cx="263347" cy="160934"/>
          </a:xfrm>
          <a:prstGeom prst="ellipse">
            <a:avLst/>
          </a:prstGeom>
          <a:ln w="15875">
            <a:solidFill>
              <a:srgbClr val="1F25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71016" y="521208"/>
            <a:ext cx="3291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СПИТАМЕН БОНК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71016" y="78638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D4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ШОИСТА ЗИНДАГӢ НАМО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4173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Натиҷаҳои асосии соли 2026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13232" y="19933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C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Ҷамъбасти се лоиҳаи стратегии идоракунии кадрҳо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3232" y="278892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252B52"/>
          </a:solidFill>
          <a:ln w="12700">
            <a:solidFill>
              <a:srgbClr val="32386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96212" y="3017520"/>
            <a:ext cx="548640" cy="548640"/>
          </a:xfrm>
          <a:prstGeom prst="ellipse">
            <a:avLst/>
          </a:prstGeom>
          <a:solidFill>
            <a:srgbClr val="D4A44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696212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3232" y="36576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50392" y="43891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мутахассиси IT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ҷалбшуда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83864" y="278892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252B52"/>
          </a:solidFill>
          <a:ln w="12700">
            <a:solidFill>
              <a:srgbClr val="32386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66844" y="3017520"/>
            <a:ext cx="548640" cy="548640"/>
          </a:xfrm>
          <a:prstGeom prst="ellipse">
            <a:avLst/>
          </a:prstGeom>
          <a:solidFill>
            <a:srgbClr val="D4A44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466844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483864" y="36576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87%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3621024" y="43891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иҷрои барномаи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мураббигӣ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54496" y="278892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252B52"/>
          </a:solidFill>
          <a:ln w="12700">
            <a:solidFill>
              <a:srgbClr val="32386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37476" y="3017520"/>
            <a:ext cx="548640" cy="548640"/>
          </a:xfrm>
          <a:prstGeom prst="ellipse">
            <a:avLst/>
          </a:prstGeom>
          <a:solidFill>
            <a:srgbClr val="D4A44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237476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54496" y="36576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6391656" y="43891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корманди фаро-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гирифташуда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025128" y="278892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252B52"/>
          </a:solidFill>
          <a:ln w="12700">
            <a:solidFill>
              <a:srgbClr val="3238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08108" y="3017520"/>
            <a:ext cx="548640" cy="548640"/>
          </a:xfrm>
          <a:prstGeom prst="ellipse">
            <a:avLst/>
          </a:prstGeom>
          <a:solidFill>
            <a:srgbClr val="D4A44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0008108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025128" y="36576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9162288" y="43891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лоиҳаи стратегӣ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 итмом расид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3232" y="5623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Ташаккур барои таваҷҷуҳ!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02920" y="641908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Департаменти кадрҳо</a:t>
            </a:r>
            <a:pPr indent="0" marL="0">
              <a:buNone/>
            </a:pPr>
            <a:r>
              <a:rPr lang="en-US" sz="9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950" dirty="0">
                <a:solidFill>
                  <a:srgbClr val="90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ҶСП «Спитамен Бонк»</a:t>
            </a:r>
            <a:pPr indent="0" marL="0">
              <a:buNone/>
            </a:pPr>
            <a:r>
              <a:rPr lang="en-US" sz="9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950" dirty="0">
                <a:solidFill>
                  <a:srgbClr val="90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Нимсолаи якуми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Ҳисоботи кадрҳо</dc:title>
  <dc:subject>PptxGenJS Presentation</dc:subject>
  <dc:creator>Спитамен Бонк</dc:creator>
  <cp:lastModifiedBy>Спитамен Бонк</cp:lastModifiedBy>
  <cp:revision>1</cp:revision>
  <dcterms:created xsi:type="dcterms:W3CDTF">2026-08-08T11:42:39Z</dcterms:created>
  <dcterms:modified xsi:type="dcterms:W3CDTF">2026-08-08T11:42:39Z</dcterms:modified>
</cp:coreProperties>
</file>